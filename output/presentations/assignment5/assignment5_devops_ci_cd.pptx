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voppy/review-api/tree/devop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371/journal.pbio.1001745" TargetMode="External"/><Relationship Id="rId3" Type="http://schemas.openxmlformats.org/officeDocument/2006/relationships/hyperlink" Target="https://doi.org/10.1371/journal.pcbi.1003506" TargetMode="External"/><Relationship Id="rId4" Type="http://schemas.openxmlformats.org/officeDocument/2006/relationships/hyperlink" Target="https://dora.dev/capabilities/continuous-integration/" TargetMode="External"/><Relationship Id="rId5" Type="http://schemas.openxmlformats.org/officeDocument/2006/relationships/hyperlink" Target="https://dora.dev/capabilities/continuous-delivery/" TargetMode="External"/><Relationship Id="rId6" Type="http://schemas.openxmlformats.org/officeDocument/2006/relationships/hyperlink" Target="https://docs.docker.com/guides/python/" TargetMode="External"/><Relationship Id="rId7" Type="http://schemas.openxmlformats.org/officeDocument/2006/relationships/hyperlink" Target="https://www.jenkins.io/doc/book/pipeline/" TargetMode="External"/><Relationship Id="rId8" Type="http://schemas.openxmlformats.org/officeDocument/2006/relationships/hyperlink" Target="https://kubernetes.io/docs/concept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03B55"/>
          </a:solidFill>
          <a:ln w="10160"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91D4C8"/>
                </a:solidFill>
                <a:latin typeface="Aptos"/>
              </a:rPr>
              <a:t>ASSIGNMENT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98448"/>
            <a:ext cx="681228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DevOps &amp; CI/CD
for Research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59436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D8E4EB"/>
                </a:solidFill>
                <a:latin typeface="Aptos"/>
              </a:rPr>
              <a:t>Automating a reproducible software workflow
with Docker and Jenkins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15968"/>
            <a:ext cx="786384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ReviewGuard  |  Python research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9C8D4"/>
                </a:solidFill>
                <a:latin typeface="Aptos"/>
              </a:rPr>
              <a:t>Dias Kazikhanov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1600200"/>
            <a:ext cx="566928" cy="566928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755648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8" y="1746504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Git</a:t>
            </a:r>
          </a:p>
        </p:txBody>
      </p:sp>
      <p:sp>
        <p:nvSpPr>
          <p:cNvPr id="12" name="Oval 11"/>
          <p:cNvSpPr/>
          <p:nvPr/>
        </p:nvSpPr>
        <p:spPr>
          <a:xfrm>
            <a:off x="9738360" y="2331720"/>
            <a:ext cx="566928" cy="566928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2487168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2448" y="2478024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CI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063240"/>
            <a:ext cx="566928" cy="566928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18688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3209544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8" name="Oval 17"/>
          <p:cNvSpPr/>
          <p:nvPr/>
        </p:nvSpPr>
        <p:spPr>
          <a:xfrm>
            <a:off x="9738360" y="3794760"/>
            <a:ext cx="566928" cy="566928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3950208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8" y="3941064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Health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87384" y="2167128"/>
            <a:ext cx="1133856" cy="164592"/>
          </a:xfrm>
          <a:prstGeom prst="line">
            <a:avLst/>
          </a:prstGeom>
          <a:ln w="20320">
            <a:solidFill>
              <a:srgbClr val="A8B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787384" y="2898648"/>
            <a:ext cx="1133856" cy="164592"/>
          </a:xfrm>
          <a:prstGeom prst="line">
            <a:avLst/>
          </a:prstGeom>
          <a:ln w="20320">
            <a:solidFill>
              <a:srgbClr val="A8B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87384" y="3630168"/>
            <a:ext cx="1133856" cy="164592"/>
          </a:xfrm>
          <a:prstGeom prst="line">
            <a:avLst/>
          </a:prstGeom>
          <a:ln w="20320">
            <a:solidFill>
              <a:srgbClr val="A8B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0" y="5166360"/>
            <a:ext cx="32004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D8E4EB"/>
                </a:solidFill>
                <a:latin typeface="Aptos"/>
              </a:rPr>
              <a:t>A working CI demonstration,
not a claim of scientific validity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Research results depend on more than source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07180"/>
                </a:solidFill>
                <a:latin typeface="Aptos"/>
              </a:rPr>
              <a:t>A result is produced by a whole computational setup. If any part is missing, another researcher may not be able to rebuild the same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774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377440"/>
            <a:ext cx="2286000" cy="109728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47D77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901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source revision
&amp;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23774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8144" y="2377440"/>
            <a:ext cx="2286000" cy="109728"/>
          </a:xfrm>
          <a:prstGeom prst="rect">
            <a:avLst/>
          </a:prstGeom>
          <a:solidFill>
            <a:srgbClr val="E7A64B"/>
          </a:solidFill>
          <a:ln w="10160"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70048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7A64B"/>
                </a:solidFill>
                <a:latin typeface="Aptos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035808"/>
            <a:ext cx="1901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dataset version
&amp; provenance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3774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2377440"/>
            <a:ext cx="2286000" cy="109728"/>
          </a:xfrm>
          <a:prstGeom prst="rect">
            <a:avLst/>
          </a:prstGeom>
          <a:solidFill>
            <a:srgbClr val="D76B5C"/>
          </a:solidFill>
          <a:ln w="10160"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670048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76B5C"/>
                </a:solidFill>
                <a:latin typeface="Aptos"/>
              </a:rPr>
              <a:t>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035808"/>
            <a:ext cx="1901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preprocessing
&amp;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23774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2377440"/>
            <a:ext cx="2286000" cy="109728"/>
          </a:xfrm>
          <a:prstGeom prst="rect">
            <a:avLst/>
          </a:prstGeom>
          <a:solidFill>
            <a:srgbClr val="203B55"/>
          </a:solidFill>
          <a:ln w="10160"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2670048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03B55"/>
                </a:solidFill>
                <a:latin typeface="Aptos"/>
              </a:rPr>
              <a:t>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3035808"/>
            <a:ext cx="190195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packages, weights
&amp;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283F"/>
                </a:solidFill>
                <a:latin typeface="Aptos"/>
              </a:rPr>
              <a:t>DevOps makes the software steps visible and repeatable.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828032"/>
            <a:ext cx="10241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07180"/>
                </a:solidFill>
                <a:latin typeface="Aptos"/>
              </a:rPr>
              <a:t>It records and checks how code is built and run. It does not decide whether a dataset, label scheme, or research claim is scientifically sound.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DevOps is a shared way of working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6984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07180"/>
                </a:solidFill>
                <a:latin typeface="Aptos"/>
              </a:rPr>
              <a:t>The goal is a short, reliable feedback loop from a proposed change to a tested, runnable artifact.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2011680"/>
            <a:ext cx="384048" cy="384048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993392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83F"/>
                </a:solidFill>
                <a:latin typeface="Aptos"/>
              </a:rPr>
              <a:t>Version every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993392"/>
            <a:ext cx="68580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Keep code, pipeline definitions, and configuration in reviewable history.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971800"/>
            <a:ext cx="384048" cy="384048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06324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953512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83F"/>
                </a:solidFill>
                <a:latin typeface="Aptos"/>
              </a:rPr>
              <a:t>Automate routine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953512"/>
            <a:ext cx="68580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Run the same tests and builds after every 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931920"/>
            <a:ext cx="384048" cy="384048"/>
          </a:xfrm>
          <a:prstGeom prst="ellipse">
            <a:avLst/>
          </a:prstGeom>
          <a:solidFill>
            <a:srgbClr val="D76B5C"/>
          </a:solidFill>
          <a:ln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913632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83F"/>
                </a:solidFill>
                <a:latin typeface="Aptos"/>
              </a:rPr>
              <a:t>Describe environments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913632"/>
            <a:ext cx="68580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Make runtime and deployment setup explicit instead of relying on a laptop state.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4892040"/>
            <a:ext cx="384048" cy="384048"/>
          </a:xfrm>
          <a:prstGeom prst="ellipse">
            <a:avLst/>
          </a:prstGeom>
          <a:solidFill>
            <a:srgbClr val="203B55"/>
          </a:solidFill>
          <a:ln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83480"/>
            <a:ext cx="38404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873752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83F"/>
                </a:solidFill>
                <a:latin typeface="Aptos"/>
              </a:rPr>
              <a:t>Learn from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4873752"/>
            <a:ext cx="685800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Use fast, visible feedback to fix defects near the change that caused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5852160"/>
            <a:ext cx="10607040" cy="365760"/>
          </a:xfrm>
          <a:prstGeom prst="rect">
            <a:avLst/>
          </a:prstGeom>
          <a:solidFill>
            <a:srgbClr val="DDF3EE"/>
          </a:solidFill>
          <a:ln w="10160">
            <a:solidFill>
              <a:srgbClr val="DD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925312"/>
            <a:ext cx="10241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3283F"/>
                </a:solidFill>
                <a:latin typeface="Aptos"/>
              </a:rPr>
              <a:t>For research teams: fewer environment surprises, earlier regression detection, easier handoffs, and clearer provenance.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CI/CD turns each change into a repeatable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07180"/>
                </a:solidFill>
                <a:latin typeface="Aptos"/>
              </a:rPr>
              <a:t>Continuous integration (CI) and delivery (CD) share a pipeline, but they answer different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523744"/>
            <a:ext cx="310896" cy="310896"/>
          </a:xfrm>
          <a:prstGeom prst="ellipse">
            <a:avLst/>
          </a:prstGeom>
          <a:solidFill>
            <a:srgbClr val="203B55"/>
          </a:solidFill>
          <a:ln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31089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83F"/>
                </a:solidFill>
                <a:latin typeface="Aptos"/>
              </a:rPr>
              <a:t>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Git records
a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25496"/>
            <a:ext cx="3474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900" b="1" i="0">
                <a:solidFill>
                  <a:srgbClr val="147D77"/>
                </a:solidFill>
                <a:latin typeface="Apto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90672" y="2523744"/>
            <a:ext cx="310896" cy="310896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606040"/>
            <a:ext cx="31089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926080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83F"/>
                </a:solidFill>
                <a:latin typeface="Aptos"/>
              </a:rPr>
              <a:t>Integrate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24612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CI runs tests
and a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825496"/>
            <a:ext cx="3474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900" b="1" i="0">
                <a:solidFill>
                  <a:srgbClr val="147D77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58383" y="2523744"/>
            <a:ext cx="310896" cy="310896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2606040"/>
            <a:ext cx="31089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2926080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83F"/>
                </a:solidFill>
                <a:latin typeface="Aptos"/>
              </a:rPr>
              <a:t>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324612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Docker creates
a runnable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825496"/>
            <a:ext cx="3474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900" b="1" i="0">
                <a:solidFill>
                  <a:srgbClr val="147D77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26096" y="2523744"/>
            <a:ext cx="310896" cy="310896"/>
          </a:xfrm>
          <a:prstGeom prst="ellipse">
            <a:avLst/>
          </a:prstGeom>
          <a:solidFill>
            <a:srgbClr val="D76B5C"/>
          </a:solidFill>
          <a:ln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2606040"/>
            <a:ext cx="31089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926080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83F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24612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Smoke test the
container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2825496"/>
            <a:ext cx="3474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900" b="1" i="0">
                <a:solidFill>
                  <a:srgbClr val="147D77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93808" y="2523744"/>
            <a:ext cx="310896" cy="310896"/>
          </a:xfrm>
          <a:prstGeom prst="ellipse">
            <a:avLst/>
          </a:prstGeom>
          <a:solidFill>
            <a:srgbClr val="203B55"/>
          </a:solidFill>
          <a:ln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3808" y="2606040"/>
            <a:ext cx="31089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2926080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83F"/>
                </a:solidFill>
                <a:latin typeface="Aptos"/>
              </a:rPr>
              <a:t>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24612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Promote to a test
or release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160520"/>
            <a:ext cx="548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47D77"/>
                </a:solidFill>
                <a:latin typeface="Aptos"/>
              </a:rPr>
              <a:t>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60520"/>
            <a:ext cx="3931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Integrate small changes and verify them automatically.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160520"/>
            <a:ext cx="548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7A64B"/>
                </a:solidFill>
                <a:latin typeface="Aptos"/>
              </a:rPr>
              <a:t>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4160520"/>
            <a:ext cx="4297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Keep a tested version ready to release; deployment may remain gated.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148072"/>
            <a:ext cx="10515600" cy="658368"/>
          </a:xfrm>
          <a:prstGeom prst="rect">
            <a:avLst/>
          </a:prstGeom>
          <a:solidFill>
            <a:srgbClr val="13283F"/>
          </a:solidFill>
          <a:ln w="10160">
            <a:solidFill>
              <a:srgbClr val="13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330952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In research software, a green pipeline proves the specified checks passed. It does not validate the scientific conclusion.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ReviewGuard pipeline: from Git to a health-checked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07180"/>
                </a:solidFill>
                <a:latin typeface="Aptos"/>
              </a:rPr>
              <a:t>The Jenkinsfile is versioned with the Python API and runs three operational stages after checkout.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12848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719072" cy="82296"/>
          </a:xfrm>
          <a:prstGeom prst="rect">
            <a:avLst/>
          </a:prstGeom>
          <a:solidFill>
            <a:srgbClr val="203B55"/>
          </a:solidFill>
          <a:ln w="10160"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Git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34640"/>
            <a:ext cx="148132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07180"/>
                </a:solidFill>
                <a:latin typeface="Aptos"/>
              </a:rPr>
              <a:t>Python API
+ Jenkinsfile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4261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47D7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212848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2212848"/>
            <a:ext cx="1719072" cy="82296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9816" y="2468880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834640"/>
            <a:ext cx="148132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07180"/>
                </a:solidFill>
                <a:latin typeface="Aptos"/>
              </a:rPr>
              <a:t>Pipeline as Code
local self-hosted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4261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47D7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2212848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0368" y="2212848"/>
            <a:ext cx="1719072" cy="82296"/>
          </a:xfrm>
          <a:prstGeom prst="rect">
            <a:avLst/>
          </a:prstGeom>
          <a:solidFill>
            <a:srgbClr val="E7A64B"/>
          </a:solidFill>
          <a:ln w="10160"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2468880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Python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3" y="2834640"/>
            <a:ext cx="148132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07180"/>
                </a:solidFill>
                <a:latin typeface="Aptos"/>
              </a:rPr>
              <a:t>Python 3.12
pytest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64261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47D7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2212848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88936" y="2212848"/>
            <a:ext cx="1719072" cy="82296"/>
          </a:xfrm>
          <a:prstGeom prst="rect">
            <a:avLst/>
          </a:prstGeom>
          <a:solidFill>
            <a:srgbClr val="D76B5C"/>
          </a:solidFill>
          <a:ln w="10160"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468880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Docker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834640"/>
            <a:ext cx="148132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07180"/>
                </a:solidFill>
                <a:latin typeface="Aptos"/>
              </a:rPr>
              <a:t>reviewguard-ci:N
small CI 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64261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47D7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47504" y="2212848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47504" y="2212848"/>
            <a:ext cx="1719072" cy="82296"/>
          </a:xfrm>
          <a:prstGeom prst="rect">
            <a:avLst/>
          </a:prstGeom>
          <a:solidFill>
            <a:srgbClr val="203B55"/>
          </a:solidFill>
          <a:ln w="10160">
            <a:solidFill>
              <a:srgbClr val="20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468880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Smoke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834640"/>
            <a:ext cx="148132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07180"/>
                </a:solidFill>
                <a:latin typeface="Aptos"/>
              </a:rPr>
              <a:t>temporary API
+ /health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17520" y="3977639"/>
            <a:ext cx="6995160" cy="0"/>
          </a:xfrm>
          <a:prstGeom prst="line">
            <a:avLst/>
          </a:prstGeom>
          <a:ln w="1397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2688" y="4224528"/>
            <a:ext cx="103327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203041"/>
                </a:solidFill>
                <a:latin typeface="Aptos"/>
              </a:rPr>
              <a:t>GitHub Actions also runs the full test suite on pushes and pull requests; Jenkins adds a local, Docker-aware demonstration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5166360"/>
            <a:ext cx="10012680" cy="640080"/>
          </a:xfrm>
          <a:prstGeom prst="rect">
            <a:avLst/>
          </a:prstGeom>
          <a:solidFill>
            <a:srgbClr val="EAF0F3"/>
          </a:solidFill>
          <a:ln w="10160">
            <a:solidFill>
              <a:srgbClr val="EA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" y="5358384"/>
            <a:ext cx="9509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3283F"/>
                </a:solidFill>
                <a:latin typeface="Aptos"/>
              </a:rPr>
              <a:t>Data and model checkpoints stay outside the image. Mount the trained checkpoint at /models/latest when inference is required.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Docker packages the API runtime, not the research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07180"/>
                </a:solidFill>
                <a:latin typeface="Aptos"/>
              </a:rPr>
              <a:t>The image makes the application easier to start consistently across a laptop, CI runner, and test host.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57400"/>
            <a:ext cx="4389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057400"/>
            <a:ext cx="73152" cy="804672"/>
          </a:xfrm>
          <a:prstGeom prst="rect">
            <a:avLst/>
          </a:prstGeom>
          <a:solidFill>
            <a:srgbClr val="13283F"/>
          </a:solidFill>
          <a:ln w="10160">
            <a:solidFill>
              <a:srgbClr val="13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03704"/>
            <a:ext cx="3886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83F"/>
                </a:solidFill>
                <a:latin typeface="Aptos"/>
              </a:rPr>
              <a:t>Python 3.12 slim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23744"/>
            <a:ext cx="3886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small, declared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62656"/>
            <a:ext cx="4389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962656"/>
            <a:ext cx="73152" cy="80467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3886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83F"/>
                </a:solidFill>
                <a:latin typeface="Aptos"/>
              </a:rPr>
              <a:t>ReviewGuard package + Uvicorn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3886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API listens on port 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67912"/>
            <a:ext cx="4389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867912"/>
            <a:ext cx="73152" cy="804672"/>
          </a:xfrm>
          <a:prstGeom prst="rect">
            <a:avLst/>
          </a:prstGeom>
          <a:solidFill>
            <a:srgbClr val="E7A64B"/>
          </a:solidFill>
          <a:ln w="10160"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14216"/>
            <a:ext cx="3886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83F"/>
                </a:solidFill>
                <a:latin typeface="Aptos"/>
              </a:rPr>
              <a:t>Non-root runtime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34256"/>
            <a:ext cx="3886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UID 10001  ·  explicit health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480060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47D77"/>
                </a:solidFill>
                <a:latin typeface="Apto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5202936"/>
            <a:ext cx="3429000" cy="530352"/>
          </a:xfrm>
          <a:prstGeom prst="rect">
            <a:avLst/>
          </a:prstGeom>
          <a:solidFill>
            <a:srgbClr val="DDF3EE"/>
          </a:solidFill>
          <a:ln w="10160">
            <a:solidFill>
              <a:srgbClr val="DD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5358384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3283F"/>
                </a:solidFill>
                <a:latin typeface="Aptos"/>
              </a:rPr>
              <a:t>Container starts  →  /health responds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03120"/>
            <a:ext cx="5029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6B5C"/>
                </a:solidFill>
                <a:latin typeface="Aptos"/>
              </a:rPr>
              <a:t>KEEP OUT OF THE IMAGE</a:t>
            </a:r>
          </a:p>
        </p:txBody>
      </p:sp>
      <p:sp>
        <p:nvSpPr>
          <p:cNvPr id="21" name="Oval 20"/>
          <p:cNvSpPr/>
          <p:nvPr/>
        </p:nvSpPr>
        <p:spPr>
          <a:xfrm>
            <a:off x="6080760" y="2615184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505456"/>
            <a:ext cx="4636007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Raw and processed datasets</a:t>
            </a:r>
          </a:p>
        </p:txBody>
      </p:sp>
      <p:sp>
        <p:nvSpPr>
          <p:cNvPr id="23" name="Oval 22"/>
          <p:cNvSpPr/>
          <p:nvPr/>
        </p:nvSpPr>
        <p:spPr>
          <a:xfrm>
            <a:off x="6080760" y="3054096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944368"/>
            <a:ext cx="4636007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Trained model weights</a:t>
            </a:r>
          </a:p>
        </p:txBody>
      </p:sp>
      <p:sp>
        <p:nvSpPr>
          <p:cNvPr id="25" name="Oval 24"/>
          <p:cNvSpPr/>
          <p:nvPr/>
        </p:nvSpPr>
        <p:spPr>
          <a:xfrm>
            <a:off x="6080760" y="3493008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3383280"/>
            <a:ext cx="4636007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Local reports and development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4133087"/>
            <a:ext cx="51206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03041"/>
                </a:solidFill>
                <a:latin typeface="Aptos"/>
              </a:rPr>
              <a:t>CI uses INSTALL_INFERENCE=0 for a smaller startup image. The default image installs inference dependencies; it still needs a checkpoint mounted separately.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5321808"/>
            <a:ext cx="50749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07180"/>
                </a:solidFill>
                <a:latin typeface="Aptos"/>
              </a:rPr>
              <a:t>A container controls application packaging. Dataset versions, model provenance, seeds, and hardware still need their own records.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Jenkins shows each stage and its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53312"/>
            <a:ext cx="110276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nkins-stag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81540"/>
            <a:ext cx="10917936" cy="3036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02352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47D77"/>
                </a:solidFill>
                <a:latin typeface="Aptos"/>
              </a:rPr>
              <a:t>BUILD #10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5074920"/>
            <a:ext cx="90982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83F"/>
                </a:solidFill>
                <a:latin typeface="Aptos"/>
              </a:rPr>
              <a:t>Checkout → unit tests → Docker image → container health check → post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596128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07180"/>
                </a:solidFill>
                <a:latin typeface="Aptos"/>
              </a:rPr>
              <a:t>Builds #10 and #11 are green. The earlier red rows show setup iterations visible in the same local Jenkins history.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Build #10 started from the local SCM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53312"/>
            <a:ext cx="7589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nkins-build-10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16176"/>
            <a:ext cx="7479792" cy="46748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85632" y="1664208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47D77"/>
                </a:solidFill>
                <a:latin typeface="Aptos"/>
              </a:rPr>
              <a:t>SOURCE REVISION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5632" y="2011680"/>
            <a:ext cx="2560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3283F"/>
                </a:solidFill>
                <a:latin typeface="Aptos"/>
              </a:rPr>
              <a:t>e9e91b1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2697480"/>
            <a:ext cx="29718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The demonstration ran against a temporary local Git snapshot while Assignment 5 files were being prepared.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85632" y="3931920"/>
            <a:ext cx="2898648" cy="0"/>
          </a:xfrm>
          <a:prstGeom prst="line">
            <a:avLst/>
          </a:prstGeom>
          <a:ln w="1270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85632" y="4187952"/>
            <a:ext cx="2971800" cy="1307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07180"/>
                </a:solidFill>
                <a:latin typeface="Aptos"/>
              </a:rPr>
              <a:t>The completed deliverables are now published on the repository's devops branch. This screenshot records the local demonstration run, not a post-push webhook run.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Automated tests give fast, repeatable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53312"/>
            <a:ext cx="7635240" cy="4828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nkins-build-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15605"/>
            <a:ext cx="7525512" cy="4703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3648" y="1755648"/>
            <a:ext cx="201168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147D77"/>
                </a:solidFill>
                <a:latin typeface="Aptos"/>
              </a:rPr>
              <a:t>152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0224" y="2542032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3283F"/>
                </a:solidFill>
                <a:latin typeface="Aptos"/>
              </a:rPr>
              <a:t>tests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3182112"/>
            <a:ext cx="2011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3283F"/>
                </a:solidFill>
                <a:latin typeface="Aptos"/>
              </a:rPr>
              <a:t>3.64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0224" y="3675887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test stage duration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3648" y="4352544"/>
            <a:ext cx="2523744" cy="676656"/>
          </a:xfrm>
          <a:prstGeom prst="rect">
            <a:avLst/>
          </a:prstGeom>
          <a:solidFill>
            <a:srgbClr val="DDF3EE"/>
          </a:solidFill>
          <a:ln w="10160">
            <a:solidFill>
              <a:srgbClr val="DD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4517136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3283F"/>
                </a:solidFill>
                <a:latin typeface="Aptos"/>
              </a:rPr>
              <a:t>The Docker image build begins after pytest passes.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5394960"/>
            <a:ext cx="2651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Evidence: Jenkins console output for build #10.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The container starts and answers its health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53312"/>
            <a:ext cx="7589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enkins-build-10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16176"/>
            <a:ext cx="7479792" cy="46748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85632" y="1645920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47D77"/>
                </a:solidFill>
                <a:latin typeface="Aptos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5632" y="1975104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3283F"/>
                </a:solidFill>
                <a:latin typeface="Aptos"/>
              </a:rPr>
              <a:t>reviewguard-ci:10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269748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47D77"/>
                </a:solidFill>
                <a:latin typeface="Aptos"/>
              </a:rPr>
              <a:t>HEALTH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3017520"/>
            <a:ext cx="2743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3283F"/>
                </a:solidFill>
                <a:latin typeface="Aptos"/>
              </a:rPr>
              <a:t>status: "ok"
model_ready: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4041648"/>
            <a:ext cx="292608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03041"/>
                </a:solidFill>
                <a:latin typeface="Aptos"/>
              </a:rPr>
              <a:t>The initial request raced container startup; a retry returned the response and the pipeline finished SUCCESS.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85632" y="5212080"/>
            <a:ext cx="2834640" cy="640080"/>
          </a:xfrm>
          <a:prstGeom prst="rect">
            <a:avLst/>
          </a:prstGeom>
          <a:solidFill>
            <a:srgbClr val="EAF0F3"/>
          </a:solidFill>
          <a:ln w="10160">
            <a:solidFill>
              <a:srgbClr val="EAF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5358384"/>
            <a:ext cx="2468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3283F"/>
                </a:solidFill>
                <a:latin typeface="Aptos"/>
              </a:rPr>
              <a:t>Liveness verified; no trained checkpoint was loaded.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Operational checks are not scientific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07180"/>
                </a:solidFill>
                <a:latin typeface="Aptos"/>
              </a:rPr>
              <a:t>The pipeline provides evidence about software behavior at one recorded revision.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93392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47D77"/>
                </a:solidFill>
                <a:latin typeface="Aptos"/>
              </a:rPr>
              <a:t>WHAT THE RUN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7648" y="1993392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6B5C"/>
                </a:solidFill>
                <a:latin typeface="Aptos"/>
              </a:rPr>
              <a:t>WHAT IT DOES NOT ESTABLISH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1920240"/>
            <a:ext cx="0" cy="3931920"/>
          </a:xfrm>
          <a:prstGeom prst="line">
            <a:avLst/>
          </a:prstGeom>
          <a:ln w="1397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" y="2651760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45445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03041"/>
                </a:solidFill>
                <a:latin typeface="Aptos"/>
              </a:rPr>
              <a:t>The specified test suite passed on the recorded source snapshot.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511296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401568"/>
            <a:ext cx="45445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03041"/>
                </a:solidFill>
                <a:latin typeface="Aptos"/>
              </a:rPr>
              <a:t>The Docker image built from the declared project 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370832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261104"/>
            <a:ext cx="45445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03041"/>
                </a:solidFill>
                <a:latin typeface="Aptos"/>
              </a:rPr>
              <a:t>The API process started and /health returned a response.</a:t>
            </a:r>
          </a:p>
        </p:txBody>
      </p:sp>
      <p:sp>
        <p:nvSpPr>
          <p:cNvPr id="14" name="Oval 13"/>
          <p:cNvSpPr/>
          <p:nvPr/>
        </p:nvSpPr>
        <p:spPr>
          <a:xfrm>
            <a:off x="6345936" y="2651760"/>
            <a:ext cx="91440" cy="91440"/>
          </a:xfrm>
          <a:prstGeom prst="ellipse">
            <a:avLst/>
          </a:prstGeom>
          <a:solidFill>
            <a:srgbClr val="D76B5C"/>
          </a:solidFill>
          <a:ln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542032"/>
            <a:ext cx="45445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03041"/>
                </a:solidFill>
                <a:latin typeface="Aptos"/>
              </a:rPr>
              <a:t>Model accuracy or generalization to new review sources.</a:t>
            </a:r>
          </a:p>
        </p:txBody>
      </p:sp>
      <p:sp>
        <p:nvSpPr>
          <p:cNvPr id="16" name="Oval 15"/>
          <p:cNvSpPr/>
          <p:nvPr/>
        </p:nvSpPr>
        <p:spPr>
          <a:xfrm>
            <a:off x="6345936" y="3511296"/>
            <a:ext cx="91440" cy="91440"/>
          </a:xfrm>
          <a:prstGeom prst="ellipse">
            <a:avLst/>
          </a:prstGeom>
          <a:solidFill>
            <a:srgbClr val="D76B5C"/>
          </a:solidFill>
          <a:ln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3401568"/>
            <a:ext cx="45445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03041"/>
                </a:solidFill>
                <a:latin typeface="Aptos"/>
              </a:rPr>
              <a:t>Dataset representativeness or label validity.</a:t>
            </a:r>
          </a:p>
        </p:txBody>
      </p:sp>
      <p:sp>
        <p:nvSpPr>
          <p:cNvPr id="18" name="Oval 17"/>
          <p:cNvSpPr/>
          <p:nvPr/>
        </p:nvSpPr>
        <p:spPr>
          <a:xfrm>
            <a:off x="6345936" y="4370832"/>
            <a:ext cx="91440" cy="91440"/>
          </a:xfrm>
          <a:prstGeom prst="ellipse">
            <a:avLst/>
          </a:prstGeom>
          <a:solidFill>
            <a:srgbClr val="D76B5C"/>
          </a:solidFill>
          <a:ln>
            <a:solidFill>
              <a:srgbClr val="D7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4261104"/>
            <a:ext cx="454456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03041"/>
                </a:solidFill>
                <a:latin typeface="Aptos"/>
              </a:rPr>
              <a:t>Bitwise reproducibility across hardware and runtimes.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5440680"/>
            <a:ext cx="10287000" cy="521207"/>
          </a:xfrm>
          <a:prstGeom prst="rect">
            <a:avLst/>
          </a:prstGeom>
          <a:solidFill>
            <a:srgbClr val="13283F"/>
          </a:solidFill>
          <a:ln w="10160">
            <a:solidFill>
              <a:srgbClr val="13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596128"/>
            <a:ext cx="98298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Research quality still depends on provenance for datasets, checkpoints, configuration, seeds, and source revisions.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Implementation exposed integration issues early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07180"/>
                </a:solidFill>
                <a:latin typeface="Aptos"/>
              </a:rPr>
              <a:t>A useful pipeline does more than automate the happy path. It reveals mismatches between packaging, the runner, and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48256"/>
            <a:ext cx="2834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47D77"/>
                </a:solidFill>
                <a:latin typeface="Aptos"/>
              </a:rPr>
              <a:t>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5072" y="2048256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47D77"/>
                </a:solidFill>
                <a:latin typeface="Aptos"/>
              </a:rPr>
              <a:t>FIX / DESIGN CHOICE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377440"/>
            <a:ext cx="106527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83F"/>
                </a:solidFill>
                <a:latin typeface="Aptos"/>
              </a:rPr>
              <a:t>No active Docker 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450592"/>
            <a:ext cx="7086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Start a local Docker runtime before building images.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83F"/>
                </a:solidFill>
                <a:latin typeface="Aptos"/>
              </a:rPr>
              <a:t>Jenkins agent lacked Docker CLI /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090672"/>
            <a:ext cx="7086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Add required tools to the Jenkins image and Python test agent.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657600"/>
            <a:ext cx="106527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30752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83F"/>
                </a:solidFill>
                <a:latin typeface="Aptos"/>
              </a:rPr>
              <a:t>API HTML asset missing from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730752"/>
            <a:ext cx="7086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Declare static HTML as package data; rerun the health check.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70831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83F"/>
                </a:solidFill>
                <a:latin typeface="Aptos"/>
              </a:rPr>
              <a:t>CPU-only CI 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370831"/>
            <a:ext cx="7086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Install CPU PyTorch wheels to avoid unused CUDA downloads.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937760"/>
            <a:ext cx="106527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10912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3283F"/>
                </a:solidFill>
                <a:latin typeface="Aptos"/>
              </a:rPr>
              <a:t>Container startup 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010912"/>
            <a:ext cx="7086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03041"/>
                </a:solidFill>
                <a:latin typeface="Aptos"/>
              </a:rPr>
              <a:t>Retry /health briefly and always remove the temporary smoke container.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2412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47D77"/>
                </a:solidFill>
                <a:latin typeface="Aptos"/>
              </a:rPr>
              <a:t>The health check now tests a real built container rather than only importing the API package.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Kubernetes is a deployment option, not a requirement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53312"/>
            <a:ext cx="107899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07180"/>
                </a:solidFill>
                <a:latin typeface="Aptos"/>
              </a:rPr>
              <a:t>The assignment's working scope is Docker + Jenkins CI. Registry publishing and cluster deployment remain optional because no credentials or target cluster are configured.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04288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47D77"/>
                </a:solidFill>
                <a:latin typeface="Aptos"/>
              </a:rPr>
              <a:t>A PRACTICAL NEXT PATH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898648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59028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03041"/>
                </a:solidFill>
                <a:latin typeface="Aptos"/>
              </a:rPr>
              <a:t>Push a versioned image to a registry with scoped credentials.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511296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01568"/>
            <a:ext cx="459028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03041"/>
                </a:solidFill>
                <a:latin typeface="Aptos"/>
              </a:rPr>
              <a:t>Add a webhook or multibranch job for the published devops branch.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23944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14215"/>
            <a:ext cx="459028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03041"/>
                </a:solidFill>
                <a:latin typeface="Aptos"/>
              </a:rPr>
              <a:t>Deploy to a test environment and keep promotion gated.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736592"/>
            <a:ext cx="91440" cy="91440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26864"/>
            <a:ext cx="459028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03041"/>
                </a:solidFill>
                <a:latin typeface="Aptos"/>
              </a:rPr>
              <a:t>Use Kubernetes when shared scheduling or multiple services justify it.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267712"/>
            <a:ext cx="0" cy="3081528"/>
          </a:xfrm>
          <a:prstGeom prst="line">
            <a:avLst/>
          </a:prstGeom>
          <a:ln w="1397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9088" y="2304288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7A64B"/>
                </a:solidFill>
                <a:latin typeface="Aptos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61488"/>
            <a:ext cx="4572000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3283F"/>
                </a:solidFill>
                <a:latin typeface="Aptos"/>
              </a:rPr>
              <a:t>DevOps makes research software easier to test, package, and rerun.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950208"/>
            <a:ext cx="44805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03041"/>
                </a:solidFill>
                <a:latin typeface="Aptos"/>
              </a:rPr>
              <a:t>Use automation to strengthen traceability and reliability, while keeping scientific claims tied to data and empirical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623560"/>
            <a:ext cx="10241280" cy="438912"/>
          </a:xfrm>
          <a:prstGeom prst="rect">
            <a:avLst/>
          </a:prstGeom>
          <a:solidFill>
            <a:srgbClr val="DDF3EE"/>
          </a:solidFill>
          <a:ln w="10160">
            <a:solidFill>
              <a:srgbClr val="DD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5733288"/>
            <a:ext cx="98755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13283F"/>
                </a:solidFill>
                <a:latin typeface="Aptos"/>
              </a:rPr>
              <a:t>Repository: </a:t>
            </a:r>
            <a:r>
              <a:rPr sz="1300" b="1" i="0">
                <a:solidFill>
                  <a:srgbClr val="147D77"/>
                </a:solidFill>
                <a:latin typeface="Aptos"/>
                <a:hlinkClick r:id="rId2"/>
              </a:rPr>
              <a:t>github.com/Svoppy/review-api/tree/devops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18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3283F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24128"/>
            <a:ext cx="713232" cy="50292"/>
          </a:xfrm>
          <a:prstGeom prst="rect">
            <a:avLst/>
          </a:prstGeom>
          <a:solidFill>
            <a:srgbClr val="147D77"/>
          </a:solidFill>
          <a:ln w="10160"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" y="1389888"/>
            <a:ext cx="237744" cy="237744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44752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353312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3283F"/>
                </a:solidFill>
                <a:latin typeface="Aptos"/>
              </a:rPr>
              <a:t>Wilson et al. (2014). Best Practices for Scientific Computing. PLoS Biology 12(1): e1001745.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691640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2"/>
              </a:rPr>
              <a:t>https://doi.org/10.1371/journal.pbio.1001745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057400"/>
            <a:ext cx="237744" cy="237744"/>
          </a:xfrm>
          <a:prstGeom prst="ellipse">
            <a:avLst/>
          </a:prstGeom>
          <a:solidFill>
            <a:srgbClr val="147D77"/>
          </a:solidFill>
          <a:ln>
            <a:solidFill>
              <a:srgbClr val="14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12264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020824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3283F"/>
                </a:solidFill>
                <a:latin typeface="Aptos"/>
              </a:rPr>
              <a:t>Osborne et al. (2014). Ten simple rules for effective computational research. PLoS Comput. Biol. 10(1): e1003506.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359152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3"/>
              </a:rPr>
              <a:t>https://doi.org/10.1371/journal.pcbi.1003506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2724912"/>
            <a:ext cx="237744" cy="237744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79776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3283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688336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3283F"/>
                </a:solidFill>
                <a:latin typeface="Aptos"/>
              </a:rPr>
              <a:t>DORA. Continuous Integration capability.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026664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4"/>
              </a:rPr>
              <a:t>https://dora.dev/capabilities/continuous-integration/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3392424"/>
            <a:ext cx="237744" cy="237744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447288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3283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355848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3283F"/>
                </a:solidFill>
                <a:latin typeface="Aptos"/>
              </a:rPr>
              <a:t>DORA. Continuous Delivery capability.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694176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5"/>
              </a:rPr>
              <a:t>https://dora.dev/capabilities/continuous-delivery/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4059936"/>
            <a:ext cx="237744" cy="237744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14800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3283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4023360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3283F"/>
                </a:solidFill>
                <a:latin typeface="Aptos"/>
              </a:rPr>
              <a:t>Docker. Python language-specific guide.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361688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6"/>
              </a:rPr>
              <a:t>https://docs.docker.com/guides/python/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4727448"/>
            <a:ext cx="237744" cy="237744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782312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3283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690872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3283F"/>
                </a:solidFill>
                <a:latin typeface="Aptos"/>
              </a:rPr>
              <a:t>Jenkins. Pipeline and Pipeline as Code documentation.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029200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7"/>
              </a:rPr>
              <a:t>https://www.jenkins.io/doc/book/pipeline/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" y="5394959"/>
            <a:ext cx="237744" cy="237744"/>
          </a:xfrm>
          <a:prstGeom prst="ellipse">
            <a:avLst/>
          </a:prstGeom>
          <a:solidFill>
            <a:srgbClr val="E7A64B"/>
          </a:solidFill>
          <a:ln>
            <a:solidFill>
              <a:srgbClr val="E7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449823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3283F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5358383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3283F"/>
                </a:solidFill>
                <a:latin typeface="Aptos"/>
              </a:rPr>
              <a:t>Kubernetes. Concepts documentation.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5696712"/>
            <a:ext cx="9784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47D77"/>
                </a:solidFill>
                <a:latin typeface="Aptos"/>
                <a:hlinkClick r:id="rId8"/>
              </a:rPr>
              <a:t>https://kubernetes.io/docs/concepts/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7620">
            <a:solidFill>
              <a:srgbClr val="D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4" y="6565392"/>
            <a:ext cx="4114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07180"/>
                </a:solidFill>
                <a:latin typeface="Aptos"/>
              </a:rPr>
              <a:t>REVIEWGUARD  /  DEVOPS &amp; CI/CD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55624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071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